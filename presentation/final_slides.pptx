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42F"/>
                </a:solidFill>
                <a:latin typeface="Calibri"/>
              </a:rPr>
              <a:t>Share of U.S. TV viewing — Dec 2025 (Nielsen, The Gauge)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U.S. TV viewing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E1"/>
              </a:solidFill>
              <a:effectLst/>
            </c:spPr>
          </c:dPt>
          <c:dPt>
            <c:idx val="1"/>
            <c:bubble3D val="0"/>
            <c:spPr>
              <a:solidFill>
                <a:srgbClr val="33454F"/>
              </a:solidFill>
              <a:effectLst/>
            </c:spPr>
          </c:dPt>
          <c:dPt>
            <c:idx val="2"/>
            <c:bubble3D val="0"/>
            <c:spPr>
              <a:solidFill>
                <a:srgbClr val="6E8291"/>
              </a:solidFill>
              <a:effectLst/>
            </c:spPr>
          </c:dPt>
          <c:dPt>
            <c:idx val="3"/>
            <c:bubble3D val="0"/>
            <c:spPr>
              <a:solidFill>
                <a:srgbClr val="9DAEB9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Streaming</c:v>
                </c:pt>
                <c:pt idx="1">
                  <c:v>Broadcast</c:v>
                </c:pt>
                <c:pt idx="2">
                  <c:v>Cable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47.5</c:v>
                </c:pt>
                <c:pt idx="1">
                  <c:v>21.4</c:v>
                </c:pt>
                <c:pt idx="2">
                  <c:v>20.2</c:v>
                </c:pt>
                <c:pt idx="3">
                  <c:v>10.9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42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42F"/>
                </a:solidFill>
                <a:latin typeface="Calibri"/>
              </a:rPr>
              <a:t>Streaming platforms — share of U.S. TV viewing, Dec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U.S. TV viewing (%)</c:v>
                </c:pt>
              </c:strCache>
            </c:strRef>
          </c:tx>
          <c:spPr>
            <a:solidFill>
              <a:srgbClr val="B9C4CC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4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E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YouTube</c:v>
                  </c:pt>
                  <c:pt idx="1">
                    <c:v>Netflix</c:v>
                  </c:pt>
                  <c:pt idx="2">
                    <c:v>Disney (Hulu + Disney+)</c:v>
                  </c:pt>
                  <c:pt idx="3">
                    <c:v>Prime Video</c:v>
                  </c:pt>
                  <c:pt idx="4">
                    <c:v>Roku Channel</c:v>
                  </c:pt>
                  <c:pt idx="5">
                    <c:v>Paramount+</c:v>
                  </c:pt>
                  <c:pt idx="6">
                    <c:v>Max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12.7</c:v>
                </c:pt>
                <c:pt idx="1">
                  <c:v>9</c:v>
                </c:pt>
                <c:pt idx="2">
                  <c:v>4.7</c:v>
                </c:pt>
                <c:pt idx="3">
                  <c:v>4.3</c:v>
                </c:pt>
                <c:pt idx="4">
                  <c:v>3</c:v>
                </c:pt>
                <c:pt idx="5">
                  <c:v>2.5</c:v>
                </c:pt>
                <c:pt idx="6">
                  <c:v>1.8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724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42F"/>
                </a:solidFill>
                <a:latin typeface="Calibri"/>
              </a:rPr>
              <a:t>Global monthly ad-supported viewers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ad-supported viewers (millions)</c:v>
                </c:pt>
              </c:strCache>
            </c:strRef>
          </c:tx>
          <c:spPr>
            <a:solidFill>
              <a:srgbClr val="0678A6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4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7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E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Prime Video
Apr 2024</c:v>
                  </c:pt>
                  <c:pt idx="1">
                    <c:v>Prime Video
Aug 2025</c:v>
                  </c:pt>
                  <c:pt idx="2">
                    <c:v>Netflix ad tier
Nov 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315</c:v>
                </c:pt>
                <c:pt idx="2">
                  <c:v>190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724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42F"/>
                </a:solidFill>
                <a:latin typeface="Calibri"/>
              </a:rPr>
              <a:t>Movie titles by platform — project dataset (EDA)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 titles in catalog</c:v>
                </c:pt>
              </c:strCache>
            </c:strRef>
          </c:tx>
          <c:spPr>
            <a:solidFill>
              <a:srgbClr val="00A8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4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4C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Prime Video</c:v>
                  </c:pt>
                  <c:pt idx="1">
                    <c:v>Netflix</c:v>
                  </c:pt>
                  <c:pt idx="2">
                    <c:v>Hulu</c:v>
                  </c:pt>
                  <c:pt idx="3">
                    <c:v>Disney+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4113</c:v>
                </c:pt>
                <c:pt idx="1">
                  <c:v>3695</c:v>
                </c:pt>
                <c:pt idx="2">
                  <c:v>1047</c:v>
                </c:pt>
                <c:pt idx="3">
                  <c:v>922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24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4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business-intelligence analysis of the streaming industry with a strategic deep dive on Amazon Prime Video. Built in Python/Jupyter, published to the streaming-bi-svod GitHub repo. Today: industry landscape, Prime Video's strategy, SWOT, one recommendation, and its expected financial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project: it started as catalog analytics on the Kaggle streaming dataset, then layered in live market data (Nielsen, Amazon disclosures) so the recommendation reflects the 2026 market, not just a static dataset. All code and insights are in the streaming-bi-svod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market context: streaming crossed 47.5% of all U.S. TV viewing in December 2025 — an all-time Nielsen record — and is on track to pass 50% in 2026. Notice what drove the records: live NFL football on streaming, including Prime Video. That sports theme returns in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 Video is the #4 streaming platform by U.S. viewing time at 4.3% — a personal best. The gap to YouTube and Netflix is real, but the December surge shows exactly which levers move Prime Video's needle: live sports (TNF) plus tentpole originals (Fallout). That is the strategic pattern the recommendation builds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doesn't publish Prime Video subscriber counts — Prime Video is bundled into Prime. The metric it does publish is ad-supported reach: 315M monthly viewers globally, up from 200M in 18 months, vs. 190M for Netflix's ad tier. Strategy takeaway: Amazon monetizes attention through advertising and commerce data, not just subscriptions. Bigger audience + more watch time = more revenue, which is why engagement drivers matter so much.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pillars of Prime Video's content strategy. (1) Breadth: in our project dataset, Prime Video carries the largest movie catalog of the four platforms — about 4,100 titles vs roughly 3,700 for Netflix. (Swap in your exact notebook counts if they differ.) (2) Differentiation: an unmatched live-sports slate — TNF reached 122M unique viewers, and the 11-year NBA/WNBA deal just started. Catalog breadth drives acquisition; sports drives scheduled, ad-monetized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quadrants clockwise. The key tension: Prime Video has the biggest catalog and the biggest ad audience, yet only 4.3% of TV time — its viewing is event-driven rather than habitual. The opportunity that resolves that tension is the sports calendar: NBA/WNBA turns event spikes into a weekly habit. That leads directly into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recommendation follows the impact-logic format from class: a concrete action, why it works now, and the causal chain to a business metric. Emphasize this is programming and packaging strategy — fixed weekly nights, a whip-around live show, and catalog tie-ins (documentaries, player content) — on top of rights Amazon already owns, so incremental cost is low relative to the rights 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class revenue-estimation template: baseline metric, assumed lift, unit price, output. Be explicit that +10% and 5% are assumptions — benchmarked against the observed 12% December sports surge — and that the $233M upsell figure is deliberately conservative because it ignores ad revenue, which is the larger prize (analyst projections of $7–10B/yr for Prime Video advertising). Offer sensitivity: at 5% lift the figure roughly halves; at 15% it grows proportionally.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thesis, recap the four numbers, and point to the GitHub repository for the full deliverable set. Replace &lt;username&gt; with your GitHub handle before presenting. Then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51560"/>
            <a:ext cx="4754880" cy="4754880"/>
          </a:xfrm>
          <a:prstGeom prst="ellipse">
            <a:avLst/>
          </a:prstGeom>
          <a:solidFill>
            <a:srgbClr val="1A242F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2468880"/>
            <a:ext cx="1920240" cy="1920240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3538" y="2929738"/>
            <a:ext cx="998525" cy="998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FELLOWSHIP  ·  STREAMING BI CAPSTONE  ·  FINAL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Video: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Attention Economy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strategy analysis of Amazon Prime Video using public streaming-industry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 ·  </a:t>
            </a:r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Avenues Build Fellowship  ·  Instructor: Yucheng Jiang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catalog data to a boardroom-ready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17" y="185147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474720" y="16916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strategic growth opportunity for Prime Video, grounded in public industry data and catalog analytics.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2816352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17" y="2930469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474720" y="277063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&amp; TV Shows on Streaming Platforms dataset (Kaggle) + public market data: Nielsen's The Gauge, Amazon disclosures, press reporting.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" y="3895344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" y="4009461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8496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474720" y="384962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→ EDA → cross-platform comparison → SWOT &amp; Five Forces → strategic recommendation with impact model.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85800" y="4974336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17" y="5088453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9286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3474720" y="492861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(cleaned dataset, EDA / platform-analysis / visualization notebooks, written insights, README) + this deck.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372600" y="1691640"/>
            <a:ext cx="2240280" cy="4114800"/>
          </a:xfrm>
          <a:prstGeom prst="roundRect">
            <a:avLst>
              <a:gd name="adj" fmla="val 4898"/>
            </a:avLst>
          </a:prstGeom>
          <a:solidFill>
            <a:srgbClr val="EEF7FC"/>
          </a:solidFill>
          <a:ln/>
        </p:spPr>
      </p:sp>
      <p:sp>
        <p:nvSpPr>
          <p:cNvPr id="21" name="Text 15"/>
          <p:cNvSpPr/>
          <p:nvPr/>
        </p:nvSpPr>
        <p:spPr>
          <a:xfrm>
            <a:off x="964692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46920" y="224028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is now the biggest way America watches TV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0574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0574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164592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1810512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001000" y="1755648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U.S. TV viewing went to streaming in Dec 2025 — the highest share ever recorded by Nielsen, beating broadcast (21.4%) and cable (20.2%) individually.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3136392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3300984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001000" y="3246120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streamed on Christmas Day 2025 — the most-streamed day ever, led by NFL games on Netflix and Prime Video.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4626864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4791456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001000" y="4736592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TV usage on Christmas Day came from streaming — the first holiday where streaming was the clear majority of television.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Nielsen, The Gauge™, December 2025 (published Jan 20, 2026).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Video is #4 in viewing share — and hit its all-time record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794760" cy="4160520"/>
          </a:xfrm>
          <a:prstGeom prst="roundRect">
            <a:avLst>
              <a:gd name="adj" fmla="val 2892"/>
            </a:avLst>
          </a:prstGeom>
          <a:solidFill>
            <a:srgbClr val="0F171E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DECEMBER MATTERED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23774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 was a platform record for Prime Video — viewing surged 12% vs. November.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was driven by Thursday Night Football and the new season of Fallout.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Prime Video's share moves when live sports and tentpole originals land together.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Nielsen, The Gauge™, December 2025; platform-level shares as reported by Nielsen and trade press.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built the largest ad-supported audience in premium streaming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4592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691640"/>
            <a:ext cx="48006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0" y="2103120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997" y="2217237"/>
            <a:ext cx="247254" cy="247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819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 in 16 months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26680" y="2148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Ad-supported audience grew from 200M (Apr 2024) to 315M+ monthly viewers (Aug 2025) after ads became the default Prime tier.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812280" y="3172968"/>
            <a:ext cx="48006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</p:sp>
      <p:sp>
        <p:nvSpPr>
          <p:cNvPr id="11" name="Shape 7"/>
          <p:cNvSpPr/>
          <p:nvPr/>
        </p:nvSpPr>
        <p:spPr>
          <a:xfrm>
            <a:off x="7040880" y="3584448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997" y="3698565"/>
            <a:ext cx="247254" cy="2472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26680" y="3300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countries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726680" y="36301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now run across 16 markets incl. the U.S., U.K., Germany, India and Japan — 130M+ monthly ad-supported viewers in the U.S. alone.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812280" y="4654296"/>
            <a:ext cx="48006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</p:sp>
      <p:sp>
        <p:nvSpPr>
          <p:cNvPr id="16" name="Shape 11"/>
          <p:cNvSpPr/>
          <p:nvPr/>
        </p:nvSpPr>
        <p:spPr>
          <a:xfrm>
            <a:off x="7040880" y="5065776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997" y="5179893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26680" y="4782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advantage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26680" y="511149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pairs viewing data with shopping data — ad targeting no rival can match, plus a $2.99/mo ad-free upsell on top.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Amazon disclosures via The Hollywood Reporter &amp; TheWrap (Nov 2025); Netflix monthly-active-viewer disclosure (Nov 2025).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the widest catalog, differentiated by live sports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4592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29400" y="164592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0F171E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LIVE-SPORTS MOAT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49440" y="228600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001" y="2382561"/>
            <a:ext cx="209215" cy="2092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217627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Thursday Night Football — 122M unique viewers across the 2025 season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949440" y="315468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001" y="3251241"/>
            <a:ext cx="209215" cy="209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43800" y="30449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+ WNBA — 11-year national rights package began with the 2025-26 season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949440" y="402336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001" y="4119921"/>
            <a:ext cx="209215" cy="2092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43800" y="391363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NASCAR, NWSL, and The Masters round out a year-round live calendar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949440" y="489204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001" y="4988601"/>
            <a:ext cx="209215" cy="2092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43800" y="478231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Tentpole originals: Fallout, Reacher, The Boys, Rings of Power, The Summer I Turned Pretty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949440" y="57790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breadth brings people in; live sports is the only content that makes them show up on a schedule — and watch ads.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counts: project EDA of the Kaggle “Movies &amp; TV Shows on Streaming Platforms” dataset. Sports figures: Amazon disclosures via trade press.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Prime Video wins — and where it's exposed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E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067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9209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30428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movie catalog among major platforms (project EDA)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315M monthly ad-supported viewers — largest premium ad audience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Prime: retail ecosystem lowers churn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live-sports rights: NFL, NBA/WNBA, NASCAR, Masters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BF1E6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28800"/>
            <a:ext cx="384048" cy="384048"/>
          </a:xfrm>
          <a:prstGeom prst="ellipse">
            <a:avLst/>
          </a:prstGeom>
          <a:solidFill>
            <a:srgbClr val="B072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412" y="192097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30428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4.3% of U.S. TV time — well behind YouTube (12.7%) and Netflix (9.0%)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breadth dilutes perceived quality; discovery is harder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subscriber metric blurs the value story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spikes are event-driven, not habitual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4360" y="41148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AF6E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4389852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279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7731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nears 50% of all TV — share shifts still up for grabs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NBA/WNBA seasons can make Prime a year-round sports habit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 upside: analysts project $7–10B annually within a few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$2.99/mo ad-free upsell monetizes the most engaged fans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CEBE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97680"/>
            <a:ext cx="384048" cy="384048"/>
          </a:xfrm>
          <a:prstGeom prst="ellipse">
            <a:avLst/>
          </a:prstGeom>
          <a:solidFill>
            <a:srgbClr val="B443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412" y="4389852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279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83680" y="47731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YouTube's free model keeps extending its lead in TV 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ad tier (190M viewers) competes for the same ad budgets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rights inflation squeezes margins every renewal cycle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Password/bundle fatigue as every platform raises prices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live sports the engagement engine of the ad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1018520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276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the NBA/WNBA season as a weekly appointment (fixed nights, whip-around show, catalog tie-ins) to convert event-driven viewers into habitual weekly viewers monetized by ads.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EF7F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3018252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4168" y="2907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lever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3649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2025: TNF + Fallout drove a 12% viewing surge and a record 4.3% share — sports demonstrably moves Prime's needle.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2743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EF7FC"/>
          </a:solidFill>
          <a:ln/>
        </p:spPr>
      </p:sp>
      <p:sp>
        <p:nvSpPr>
          <p:cNvPr id="12" name="Shape 9"/>
          <p:cNvSpPr/>
          <p:nvPr/>
        </p:nvSpPr>
        <p:spPr>
          <a:xfrm>
            <a:off x="4553712" y="2926080"/>
            <a:ext cx="384048" cy="38404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884" y="3018252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2907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 hand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99432" y="33649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11-year NBA/WNBA deal is already paid for; the upside is in programming it into a habit, not acquiring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55864" y="2743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EF7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4464" y="2926080"/>
            <a:ext cx="384048" cy="384048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636" y="3018252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05672" y="2907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business model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30184" y="33649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viewers accept ads; Amazon has 315M ad viewers and commerce-grade targeting to monetize every added hour.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436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LOGIC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94360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NBA/WNBA appointment</a:t>
            </a:r>
            <a:endParaRPr lang="en-US" sz="11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5285232"/>
            <a:ext cx="347472" cy="3474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465576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</p:sp>
      <p:sp>
        <p:nvSpPr>
          <p:cNvPr id="26" name="Text 20"/>
          <p:cNvSpPr/>
          <p:nvPr/>
        </p:nvSpPr>
        <p:spPr>
          <a:xfrm>
            <a:off x="3557016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viewers,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hours</a:t>
            </a:r>
            <a:endParaRPr lang="en-US" sz="11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5285232"/>
            <a:ext cx="347472" cy="34747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336792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</p:sp>
      <p:sp>
        <p:nvSpPr>
          <p:cNvPr id="29" name="Text 22"/>
          <p:cNvSpPr/>
          <p:nvPr/>
        </p:nvSpPr>
        <p:spPr>
          <a:xfrm>
            <a:off x="6428232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 impressions + upsells</a:t>
            </a:r>
            <a:endParaRPr lang="en-US" sz="11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5285232"/>
            <a:ext cx="347472" cy="34747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208008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0A8E1"/>
          </a:solidFill>
          <a:ln/>
        </p:spPr>
      </p:sp>
      <p:sp>
        <p:nvSpPr>
          <p:cNvPr id="32" name="Text 24"/>
          <p:cNvSpPr/>
          <p:nvPr/>
        </p:nvSpPr>
        <p:spPr>
          <a:xfrm>
            <a:off x="9299448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ad &amp; subscription revenue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model: what a 10% engagement lift is worth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monthly ad-supported viewers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130M  (Amazon,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Viewer lift from weekly NBA/WNBA habit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  →  143M  (assumption, in line with Dec's +12% sports-driven surge)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Ad-free upsell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$2.99 / month  ($35.88 / 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sports fans converting to upsell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of 13M incremental viewers ≈ 0.65M — plus upsells among existing viewers ≈ 6.5M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70916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EEF7F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846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incremental revenue ≈ $230M+ / year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6.5M upsell subscribers × $35.88 ≈ $233M in subscription revenue — before counting the larger prize: ad impressions from 13M added viewers and more hours per viewer.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MOVE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95160" y="2103120"/>
            <a:ext cx="457200" cy="457200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88" y="22128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80960" y="238658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spikes become weekly habits — hours per viewer rise across the season.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995160" y="3474720"/>
            <a:ext cx="457200" cy="457200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88" y="35844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680960" y="375818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viewers × more hours × premium sports CPMs — the path toward the $7–10B/yr analysts project for Prime Video ads.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95160" y="4846320"/>
            <a:ext cx="457200" cy="457200"/>
          </a:xfrm>
          <a:prstGeom prst="ellipse">
            <a:avLst/>
          </a:prstGeom>
          <a:solidFill>
            <a:srgbClr val="00A8E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49560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0" y="4800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680960" y="512978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sports habit gives one more reason to keep the Prime membership — protecting the whole ecosystem.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estimate. Baselines from Amazon disclosures; lift and conversion rates are assumptions benchmarked to Dec 2025 sports-driven growth. Ad-revenue projection: industry analysts.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Video already owns the audience and the rights.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turning events into habits.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TV is streaming — record high (Nielsen, Dec 2025)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75304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</p:sp>
      <p:sp>
        <p:nvSpPr>
          <p:cNvPr id="8" name="Text 6"/>
          <p:cNvSpPr/>
          <p:nvPr/>
        </p:nvSpPr>
        <p:spPr>
          <a:xfrm>
            <a:off x="3758184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758184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ad-supported viewers — largest premium ad audience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73368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56248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U.S. viewing share, driven by live sports + originals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71432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</p:sp>
      <p:sp>
        <p:nvSpPr>
          <p:cNvPr id="14" name="Text 12"/>
          <p:cNvSpPr/>
          <p:nvPr/>
        </p:nvSpPr>
        <p:spPr>
          <a:xfrm>
            <a:off x="9354312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54312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upside from a weekly sports habit — before ad revenue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5806440"/>
            <a:ext cx="420624" cy="420624"/>
          </a:xfrm>
          <a:prstGeom prst="ellipse">
            <a:avLst/>
          </a:prstGeom>
          <a:solidFill>
            <a:srgbClr val="1A242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5907390"/>
            <a:ext cx="218724" cy="2187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5788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notebooks, cleaned data &amp; README:  github.com/&lt;username&gt;/streaming-bi-svod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2026-07-27T14:41:18Z</dcterms:created>
  <dcterms:modified xsi:type="dcterms:W3CDTF">2026-07-27T14:41:18Z</dcterms:modified>
</cp:coreProperties>
</file>