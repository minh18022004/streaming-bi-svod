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42F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242F"/>
                </a:solidFill>
                <a:latin typeface="Calibri"/>
              </a:rPr>
              <a:t>Share of U.S. TV viewing — Dec 2025 (Nielsen, The Gauge)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U.S. TV viewing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17F-B549-8EF7-ABB8610798AF}"/>
              </c:ext>
            </c:extLst>
          </c:dPt>
          <c:dPt>
            <c:idx val="1"/>
            <c:bubble3D val="0"/>
            <c:spPr>
              <a:solidFill>
                <a:srgbClr val="3345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17F-B549-8EF7-ABB8610798AF}"/>
              </c:ext>
            </c:extLst>
          </c:dPt>
          <c:dPt>
            <c:idx val="2"/>
            <c:bubble3D val="0"/>
            <c:spPr>
              <a:solidFill>
                <a:srgbClr val="6E829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17F-B549-8EF7-ABB8610798AF}"/>
              </c:ext>
            </c:extLst>
          </c:dPt>
          <c:dPt>
            <c:idx val="3"/>
            <c:bubble3D val="0"/>
            <c:spPr>
              <a:solidFill>
                <a:srgbClr val="9DAE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17F-B549-8EF7-ABB8610798AF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17F-B549-8EF7-ABB8610798AF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17F-B549-8EF7-ABB8610798AF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17F-B549-8EF7-ABB8610798AF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17F-B549-8EF7-ABB8610798AF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Streaming</c:v>
                </c:pt>
                <c:pt idx="1">
                  <c:v>Broadcast</c:v>
                </c:pt>
                <c:pt idx="2">
                  <c:v>Cable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47.5</c:v>
                </c:pt>
                <c:pt idx="1">
                  <c:v>21.4</c:v>
                </c:pt>
                <c:pt idx="2">
                  <c:v>20.2</c:v>
                </c:pt>
                <c:pt idx="3">
                  <c:v>10.9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17F-B549-8EF7-ABB8610798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7242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42F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242F"/>
                </a:solidFill>
                <a:latin typeface="Calibri"/>
              </a:rPr>
              <a:t>Streaming platforms — share of U.S. TV viewing, Dec 2025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total U.S. TV viewing (%)</c:v>
                </c:pt>
              </c:strCache>
            </c:strRef>
          </c:tx>
          <c:spPr>
            <a:solidFill>
              <a:srgbClr val="B9C4CC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9C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74E-184B-83CD-A035B00C8E02}"/>
              </c:ext>
            </c:extLst>
          </c:dPt>
          <c:dPt>
            <c:idx val="1"/>
            <c:invertIfNegative val="0"/>
            <c:bubble3D val="0"/>
            <c:spPr>
              <a:solidFill>
                <a:srgbClr val="B9C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4E-184B-83CD-A035B00C8E02}"/>
              </c:ext>
            </c:extLst>
          </c:dPt>
          <c:dPt>
            <c:idx val="2"/>
            <c:invertIfNegative val="0"/>
            <c:bubble3D val="0"/>
            <c:spPr>
              <a:solidFill>
                <a:srgbClr val="B9C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74E-184B-83CD-A035B00C8E02}"/>
              </c:ext>
            </c:extLst>
          </c:dPt>
          <c:dPt>
            <c:idx val="3"/>
            <c:invertIfNegative val="0"/>
            <c:bubble3D val="0"/>
            <c:spPr>
              <a:solidFill>
                <a:srgbClr val="00A8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74E-184B-83CD-A035B00C8E02}"/>
              </c:ext>
            </c:extLst>
          </c:dPt>
          <c:dPt>
            <c:idx val="4"/>
            <c:invertIfNegative val="0"/>
            <c:bubble3D val="0"/>
            <c:spPr>
              <a:solidFill>
                <a:srgbClr val="B9C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74E-184B-83CD-A035B00C8E02}"/>
              </c:ext>
            </c:extLst>
          </c:dPt>
          <c:dPt>
            <c:idx val="5"/>
            <c:invertIfNegative val="0"/>
            <c:bubble3D val="0"/>
            <c:spPr>
              <a:solidFill>
                <a:srgbClr val="B9C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74E-184B-83CD-A035B00C8E02}"/>
              </c:ext>
            </c:extLst>
          </c:dPt>
          <c:dPt>
            <c:idx val="6"/>
            <c:invertIfNegative val="0"/>
            <c:bubble3D val="0"/>
            <c:spPr>
              <a:solidFill>
                <a:srgbClr val="B9C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74E-184B-83CD-A035B00C8E02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7242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YouTube</c:v>
                </c:pt>
                <c:pt idx="1">
                  <c:v>Netflix</c:v>
                </c:pt>
                <c:pt idx="2">
                  <c:v>Disney (Hulu + Disney+)</c:v>
                </c:pt>
                <c:pt idx="3">
                  <c:v>Prime Video</c:v>
                </c:pt>
                <c:pt idx="4">
                  <c:v>Roku Channel</c:v>
                </c:pt>
                <c:pt idx="5">
                  <c:v>Paramount+</c:v>
                </c:pt>
                <c:pt idx="6">
                  <c:v>Max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12.7</c:v>
                </c:pt>
                <c:pt idx="1">
                  <c:v>9</c:v>
                </c:pt>
                <c:pt idx="2">
                  <c:v>4.7</c:v>
                </c:pt>
                <c:pt idx="3">
                  <c:v>4.3</c:v>
                </c:pt>
                <c:pt idx="4">
                  <c:v>3</c:v>
                </c:pt>
                <c:pt idx="5">
                  <c:v>2.5</c:v>
                </c:pt>
                <c:pt idx="6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74E-184B-83CD-A035B00C8E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4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</c:scaling>
        <c:delete val="0"/>
        <c:axPos val="b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42F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7242F"/>
                </a:solidFill>
                <a:latin typeface="Calibri"/>
              </a:rPr>
              <a:t>Global monthly ad-supported viewers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ad-supported viewers (millions)</c:v>
                </c:pt>
              </c:strCache>
            </c:strRef>
          </c:tx>
          <c:spPr>
            <a:solidFill>
              <a:srgbClr val="0678A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67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214-9D4D-9C2F-DC0B1658C104}"/>
              </c:ext>
            </c:extLst>
          </c:dPt>
          <c:dPt>
            <c:idx val="1"/>
            <c:invertIfNegative val="0"/>
            <c:bubble3D val="0"/>
            <c:spPr>
              <a:solidFill>
                <a:srgbClr val="00A8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14-9D4D-9C2F-DC0B1658C104}"/>
              </c:ext>
            </c:extLst>
          </c:dPt>
          <c:dPt>
            <c:idx val="2"/>
            <c:invertIfNegative val="0"/>
            <c:bubble3D val="0"/>
            <c:spPr>
              <a:solidFill>
                <a:srgbClr val="B9C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214-9D4D-9C2F-DC0B1658C104}"/>
              </c:ext>
            </c:extLst>
          </c:dPt>
          <c:dLbls>
            <c:numFmt formatCode="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7242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Prime Video
Apr 2024</c:v>
                </c:pt>
                <c:pt idx="1">
                  <c:v>Prime Video
Aug 2025</c:v>
                </c:pt>
                <c:pt idx="2">
                  <c:v>Netflix ad tier
Nov 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</c:v>
                </c:pt>
                <c:pt idx="1">
                  <c:v>315</c:v>
                </c:pt>
                <c:pt idx="2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214-9D4D-9C2F-DC0B1658C1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24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0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242F"/>
                </a:solidFill>
                <a:latin typeface="Calibri"/>
              </a:defRPr>
            </a:pPr>
            <a:r>
              <a:rPr lang="en-US" sz="1300" b="0" i="0" u="none" strike="noStrike" dirty="0">
                <a:solidFill>
                  <a:srgbClr val="17242F"/>
                </a:solidFill>
                <a:latin typeface="Calibri"/>
              </a:rPr>
              <a:t>Movie titles by platform | project dataset (EDA)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 titles in catalog</c:v>
                </c:pt>
              </c:strCache>
            </c:strRef>
          </c:tx>
          <c:spPr>
            <a:solidFill>
              <a:srgbClr val="00A8E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A8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D53-714B-BBD9-FE7F53FFD145}"/>
              </c:ext>
            </c:extLst>
          </c:dPt>
          <c:dPt>
            <c:idx val="1"/>
            <c:invertIfNegative val="0"/>
            <c:bubble3D val="0"/>
            <c:spPr>
              <a:solidFill>
                <a:srgbClr val="B9C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53-714B-BBD9-FE7F53FFD145}"/>
              </c:ext>
            </c:extLst>
          </c:dPt>
          <c:dPt>
            <c:idx val="2"/>
            <c:invertIfNegative val="0"/>
            <c:bubble3D val="0"/>
            <c:spPr>
              <a:solidFill>
                <a:srgbClr val="B9C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53-714B-BBD9-FE7F53FFD145}"/>
              </c:ext>
            </c:extLst>
          </c:dPt>
          <c:dPt>
            <c:idx val="3"/>
            <c:invertIfNegative val="0"/>
            <c:bubble3D val="0"/>
            <c:spPr>
              <a:solidFill>
                <a:srgbClr val="B9C4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D53-714B-BBD9-FE7F53FFD14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7242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Prime Video</c:v>
                </c:pt>
                <c:pt idx="1">
                  <c:v>Netflix</c:v>
                </c:pt>
                <c:pt idx="2">
                  <c:v>Hulu</c:v>
                </c:pt>
                <c:pt idx="3">
                  <c:v>Disney+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4113</c:v>
                </c:pt>
                <c:pt idx="1">
                  <c:v>3695</c:v>
                </c:pt>
                <c:pt idx="2">
                  <c:v>1047</c:v>
                </c:pt>
                <c:pt idx="3">
                  <c:v>922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D53-714B-BBD9-FE7F53FFD1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4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7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789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business-intelligence analysis of the streaming industry with a strategic deep dive on Amazon Prime Video. Built in Python/Jupyter, published to the streaming-bi-svod GitHub repo. Today: industry landscape, Prime Video's strategy, SWOT, one recommendation, and its expected financial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project: it started as catalog analytics on the Kaggle streaming dataset, then layered in live market data (Nielsen, Amazon disclosures) so the recommendation reflects the 2026 market, not just a static dataset. All code and insights are in the streaming-bi-svod GitHub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market context: streaming crossed 47.5% of all U.S. TV viewing in December 2025 — an all-time Nielsen record — and is on track to pass 50% in 2026. Notice what drove the records: live NFL football on streaming, including Prime Video. That sports theme returns in the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 Video is the #4 streaming platform by U.S. viewing time at 4.3% — a personal best. The gap to YouTube and Netflix is real, but the December surge shows exactly which levers move Prime Video's needle: live sports (TNF) plus tentpole originals (Fallout). That is the strategic pattern the recommendation builds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Amazon doesn't publish Prime Video subscriber counts — Prime Video is bundled into Prime. The metric it does publish is ad-supported reach: 315M monthly viewers globally, up from 200M in 18 months, vs. 190M for Netflix's ad tier. Strategy takeaway: Amazon monetizes attention through advertising and commerce data, not just subscriptions. Bigger audience + more watch time = more revenue, which is why engagement drivers matter so much.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pillars of Prime Video's content strategy. (1) Breadth: in our project dataset, Prime Video carries the largest movie catalog of the four platforms — about 4,100 titles vs roughly 3,700 for Netflix. (Swap in your exact notebook counts if they differ.) (2) Differentiation: an unmatched live-sports slate — TNF reached 122M unique viewers, and the 11-year NBA/WNBA deal just started. Catalog breadth drives acquisition; sports drives scheduled, ad-monetized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quadrants clockwise. The key tension: Prime Video has the biggest catalog and the biggest ad audience, yet only 4.3% of TV time — its viewing is event-driven rather than habitual. The opportunity that resolves that tension is the sports calendar: NBA/WNBA turns event spikes into a weekly habit. That leads directly into the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recommendation follows the impact-logic format from class: a concrete action, why it works now, and the causal chain to a business metric. Emphasize this is programming and packaging strategy — fixed weekly nights, a whip-around live show, and catalog tie-ins (documentaries, player content) — on top of rights Amazon already owns, so incremental cost is low relative to the rights fee.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class revenue-estimation template: baseline metric, assumed lift, unit price, output. Be explicit that +10% and 5% are assumptions — benchmarked against the observed 12% December sports surge — and that the $233M upsell figure is deliberately conservative because it ignores ad revenue, which is the larger prize (analyst projections of $7–10B/yr for Prime Video advertising). Offer sensitivity: at 5% lift the figure roughly halves; at 15% it grows proportionally.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 thesis, recap the four numbers, and point to the GitHub repository for the full deliverable set. Replace &lt;username&gt; with your GitHub handle before presenting. Then open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051560"/>
            <a:ext cx="4754880" cy="4754880"/>
          </a:xfrm>
          <a:prstGeom prst="ellipse">
            <a:avLst/>
          </a:prstGeom>
          <a:solidFill>
            <a:srgbClr val="1A24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12680" y="2468880"/>
            <a:ext cx="1920240" cy="1920240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3538" y="2929738"/>
            <a:ext cx="998525" cy="9985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716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FELLOWSHIP  ·  STREAMING BI CAPSTONE  ·  FINAL PRESENTATION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Video: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the Attention Economy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77240" y="3703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strategy analysis of Amazon Prime Video using public streaming-industry data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5806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 ·  </a:t>
            </a:r>
            <a:r>
              <a:rPr lang="en-US" sz="13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Avenues Build Fellowship  ·  Instructor: Yucheng Jiang  ·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catalog data to a boardroom-ready recommendation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475488" cy="475488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17" y="1851477"/>
            <a:ext cx="247254" cy="247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916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474720" y="16916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strategic growth opportunity for Prime Video, grounded in public industry data and catalog analytics.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2816352"/>
            <a:ext cx="475488" cy="475488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17" y="2930469"/>
            <a:ext cx="247254" cy="247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7063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474720" y="277063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&amp; TV Shows on Streaming Platforms dataset (Kaggle) + public market data: Nielsen's The Gauge, Amazon disclosures, press reporting.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85800" y="3895344"/>
            <a:ext cx="475488" cy="475488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917" y="4009461"/>
            <a:ext cx="247254" cy="2472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84962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474720" y="3849624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→ EDA → cross-platform comparison → SWOT &amp; Five Forces → strategic recommendation with impact model.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85800" y="4974336"/>
            <a:ext cx="475488" cy="475488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917" y="5088453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9286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3474720" y="4928616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(cleaned dataset, EDA / platform-analysis / visualization notebooks, written insights, README) + this deck.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372600" y="1691640"/>
            <a:ext cx="2240280" cy="4114800"/>
          </a:xfrm>
          <a:prstGeom prst="roundRect">
            <a:avLst>
              <a:gd name="adj" fmla="val 4898"/>
            </a:avLst>
          </a:prstGeom>
          <a:solidFill>
            <a:srgbClr val="EE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964692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7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9646920" y="2240280"/>
            <a:ext cx="1828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market data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is now the biggest way America watches TV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554480"/>
          <a:ext cx="51206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205740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05740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126480" y="164592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EE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55080" y="1810512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7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001000" y="1755648"/>
            <a:ext cx="34290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of all U.S. TV viewing went to streaming in Dec 2025 - the highest share ever recorded by Nielsen (broadcast at 21.4%, cable at 20.2%).</a:t>
            </a:r>
          </a:p>
        </p:txBody>
      </p:sp>
      <p:sp>
        <p:nvSpPr>
          <p:cNvPr id="10" name="Shape 7"/>
          <p:cNvSpPr/>
          <p:nvPr/>
        </p:nvSpPr>
        <p:spPr>
          <a:xfrm>
            <a:off x="6126480" y="3136392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EE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55080" y="3300984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7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55.1B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8001000" y="3246120"/>
            <a:ext cx="34290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streamed on Christmas Day 2025, the most-streamed day ever, led by NFL games on Netflix and Prime Video.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26480" y="4626864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EE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55080" y="4791456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7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001000" y="4736592"/>
            <a:ext cx="34290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TV usage on Christmas Day came from streaming, the first holiday where streaming was the clear majority of television.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94360" y="64556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Nielsen, The Gauge™, December 2025 (published Jan 20, 2026).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Video is #4 in viewing share, and hit its all-time record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60020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737360"/>
            <a:ext cx="3794760" cy="4160520"/>
          </a:xfrm>
          <a:prstGeom prst="roundRect">
            <a:avLst>
              <a:gd name="adj" fmla="val 2892"/>
            </a:avLst>
          </a:prstGeom>
          <a:solidFill>
            <a:srgbClr val="0F1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13816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DECEMBER MATTERED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38160" y="237744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 was a platform record for Prime Video, viewing surged 12% vs. November.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was driven by Thursday Night Football and the new season of Fallout.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Prime Video's share moves when live sports and tentpole originals land together.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64556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Nielsen, The Gauge™, December 2025; platform-level shares as reported by Nielsen and trade press.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STRATEGY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built the largest ad-supported audience in premium streaming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645920"/>
          <a:ext cx="59436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12280" y="1691640"/>
            <a:ext cx="4800600" cy="1325880"/>
          </a:xfrm>
          <a:prstGeom prst="roundRect">
            <a:avLst>
              <a:gd name="adj" fmla="val 6897"/>
            </a:avLst>
          </a:prstGeom>
          <a:solidFill>
            <a:srgbClr val="EE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040880" y="2103120"/>
            <a:ext cx="475488" cy="475488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997" y="2217237"/>
            <a:ext cx="247254" cy="2472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18196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+58% in 16 months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26680" y="21488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Ad-supported audience grew from 200M (Apr 2024) to 315M+ monthly viewers (Aug 2025) after ads became the default Prime tier.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812280" y="3172968"/>
            <a:ext cx="4800600" cy="1325880"/>
          </a:xfrm>
          <a:prstGeom prst="roundRect">
            <a:avLst>
              <a:gd name="adj" fmla="val 6897"/>
            </a:avLst>
          </a:prstGeom>
          <a:solidFill>
            <a:srgbClr val="EE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040880" y="3584448"/>
            <a:ext cx="475488" cy="475488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4997" y="3698565"/>
            <a:ext cx="247254" cy="24725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26680" y="3300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countries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726680" y="36301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now run across 16 markets incl. the U.S., U.K., Germany, India and Japan, 130M+ monthly ad-supported viewers in the U.S. alone.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812280" y="4654296"/>
            <a:ext cx="4800600" cy="1325880"/>
          </a:xfrm>
          <a:prstGeom prst="roundRect">
            <a:avLst>
              <a:gd name="adj" fmla="val 6897"/>
            </a:avLst>
          </a:prstGeom>
          <a:solidFill>
            <a:srgbClr val="EE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7040880" y="5065776"/>
            <a:ext cx="475488" cy="475488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4997" y="5179893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26680" y="4782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advantage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726680" y="511149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pairs viewing data with shopping data, ad targeting no rival can match, plus a $2.99/mo ad-free upsell on top.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94360" y="64556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Amazon disclosures via The Hollywood Reporter &amp; TheWrap (Nov 2025); Netflix monthly-active-viewer disclosure (Nov 2025).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STRATEGY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the widest catalog, differentiated by live sports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506941863"/>
              </p:ext>
            </p:extLst>
          </p:nvPr>
        </p:nvGraphicFramePr>
        <p:xfrm>
          <a:off x="502920" y="1645920"/>
          <a:ext cx="57607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629400" y="164592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0F1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949440" y="1874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LIVE-SPORTS MOAT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949440" y="2286000"/>
            <a:ext cx="402336" cy="402336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001" y="2382561"/>
            <a:ext cx="209215" cy="2092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43800" y="217627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NFL Thursday Night Football, 122M unique viewers across the 2025 season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949440" y="3154680"/>
            <a:ext cx="402336" cy="402336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6001" y="3251241"/>
            <a:ext cx="209215" cy="20921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43800" y="30449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+ WNBA, 11-year national rights package began with the 2025-26 season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949440" y="4023360"/>
            <a:ext cx="402336" cy="402336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6001" y="4119921"/>
            <a:ext cx="209215" cy="20921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543800" y="391363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NASCAR, NWSL, and The Masters round out a year-round live calendar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949440" y="4892040"/>
            <a:ext cx="402336" cy="402336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6001" y="4988601"/>
            <a:ext cx="209215" cy="20921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543800" y="478231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Tentpole originals: Fallout, Reacher, The Boys, Rings of Power, The Summer I Turned Pretty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949440" y="577900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breadth brings people in; live sports is the only content that makes them show up on a schedule — and watch ads.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94360" y="64556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counts: project EDA of the Kaggle “Movies &amp; TV Shows on Streaming Platforms” dataset. Sports figures: Amazon disclosures via trade press.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Prime Video wins, and where it's exposed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EE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84048" cy="384048"/>
          </a:xfrm>
          <a:prstGeom prst="ellipse">
            <a:avLst/>
          </a:prstGeom>
          <a:solidFill>
            <a:srgbClr val="067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1920972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10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7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30428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movie catalog among major platforms (project EDA)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315M monthly ad-supported viewers, largest premium ad audience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with Prime: retail ecosystem lowers churn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live-sports rights: NFL, NBA/WNBA, NASCAR, Masters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BF1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92240" y="1828800"/>
            <a:ext cx="384048" cy="384048"/>
          </a:xfrm>
          <a:prstGeom prst="ellipse">
            <a:avLst/>
          </a:prstGeom>
          <a:solidFill>
            <a:srgbClr val="B0722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412" y="1920972"/>
            <a:ext cx="199705" cy="19970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10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30428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4.3% of U.S. TV time, well behind YouTube (12.7%) and Netflix (9.0%)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breadth dilutes perceived quality; discovery is harder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subscriber metric blurs the value story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spikes are event-driven, not habitual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4360" y="411480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EAF6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2960" y="4297680"/>
            <a:ext cx="384048" cy="384048"/>
          </a:xfrm>
          <a:prstGeom prst="ellipse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132" y="4389852"/>
            <a:ext cx="199705" cy="1997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279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477316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nears 50% of all TV, share shifts still up for grabs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 NBA/WNBA seasons can make Prime a year-round sports habit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revenue upside: analysts project $7–10B annually within a few years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$2.99/mo ad-free upsell monetizes the most engaged fans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411480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CEB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92240" y="4297680"/>
            <a:ext cx="384048" cy="384048"/>
          </a:xfrm>
          <a:prstGeom prst="ellipse">
            <a:avLst/>
          </a:prstGeom>
          <a:solidFill>
            <a:srgbClr val="B443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4412" y="4389852"/>
            <a:ext cx="199705" cy="19970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2793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44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83680" y="477316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YouTube's free model keeps extending its lead in TV time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ad tier (190M viewers) competes for the same ad budgets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rights inflation squeezes margins every renewal cycle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Password/bundle fatigue as every platform raises prices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live sports the engagement engine of the ad business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1018520" cy="960120"/>
          </a:xfrm>
          <a:prstGeom prst="roundRect">
            <a:avLst>
              <a:gd name="adj" fmla="val 9524"/>
            </a:avLst>
          </a:prstGeom>
          <a:solidFill>
            <a:srgbClr val="0F1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276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the NBA/WNBA season as a weekly appointment (fixed nights, whip-around show, catalog tie-ins) to convert event-driven viewers into habitual weekly viewers monetized by ads.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EE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384048" cy="384048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3018252"/>
            <a:ext cx="199705" cy="1997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44168" y="29077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lever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33649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2025: TNF + Fallout drove a 12% viewing surge and a record 4.3% share — sports demonstrably moves Prime's needle.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5112" y="27432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EE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53712" y="2926080"/>
            <a:ext cx="384048" cy="384048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884" y="3018252"/>
            <a:ext cx="199705" cy="1997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29077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 hand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99432" y="33649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11-year NBA/WNBA deal is already paid for; the upside is in programming it into a habit, not acquiring it.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55864" y="27432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EE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284464" y="2926080"/>
            <a:ext cx="384048" cy="384048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636" y="3018252"/>
            <a:ext cx="199705" cy="19970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05672" y="29077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business model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30184" y="3364992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viewers accept ads; Amazon has 315M ad viewers and commerce-grade targeting to monetize every added hour.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9436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7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LOGIC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94360" y="4983480"/>
            <a:ext cx="2395728" cy="960120"/>
          </a:xfrm>
          <a:prstGeom prst="roundRect">
            <a:avLst>
              <a:gd name="adj" fmla="val 9524"/>
            </a:avLst>
          </a:prstGeom>
          <a:solidFill>
            <a:srgbClr val="0F1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685800" y="498348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NBA/WNBA appointment</a:t>
            </a:r>
            <a:endParaRPr lang="en-US" sz="11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2" y="5285232"/>
            <a:ext cx="347472" cy="34747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3465576" y="4983480"/>
            <a:ext cx="2395728" cy="960120"/>
          </a:xfrm>
          <a:prstGeom prst="roundRect">
            <a:avLst>
              <a:gd name="adj" fmla="val 9524"/>
            </a:avLst>
          </a:prstGeom>
          <a:solidFill>
            <a:srgbClr val="0F1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3557016" y="498348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viewers,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hours</a:t>
            </a:r>
            <a:endParaRPr lang="en-US" sz="115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5285232"/>
            <a:ext cx="347472" cy="34747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6336792" y="4983480"/>
            <a:ext cx="2395728" cy="960120"/>
          </a:xfrm>
          <a:prstGeom prst="roundRect">
            <a:avLst>
              <a:gd name="adj" fmla="val 9524"/>
            </a:avLst>
          </a:prstGeom>
          <a:solidFill>
            <a:srgbClr val="0F1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2"/>
          <p:cNvSpPr/>
          <p:nvPr/>
        </p:nvSpPr>
        <p:spPr>
          <a:xfrm>
            <a:off x="6428232" y="498348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 impressions + upsells</a:t>
            </a:r>
            <a:endParaRPr lang="en-US" sz="115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384" y="5285232"/>
            <a:ext cx="347472" cy="34747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9208008" y="4983480"/>
            <a:ext cx="2395728" cy="960120"/>
          </a:xfrm>
          <a:prstGeom prst="roundRect">
            <a:avLst>
              <a:gd name="adj" fmla="val 9524"/>
            </a:avLst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4"/>
          <p:cNvSpPr/>
          <p:nvPr/>
        </p:nvSpPr>
        <p:spPr>
          <a:xfrm>
            <a:off x="9299448" y="4983480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ad &amp; subscription revenue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model: what a 10% engagement lift is worth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6035040" cy="289864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U.S. monthly ad-supported viewers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130M  (Amazon, 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Viewer lift from weekly NBA/WNBA habit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+10%  →  143M  (assumption, in line with Dec's +12% sports-driven surge)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Ad-free upsell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$2.99 / month  ($35.88 / yr)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Engaged sports fans converting to upsell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724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of 13M incremental viewers ≈ 0.65M — plus upsells among existing viewers ≈ 6.5M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4709160"/>
            <a:ext cx="6035040" cy="1417320"/>
          </a:xfrm>
          <a:prstGeom prst="roundRect">
            <a:avLst>
              <a:gd name="adj" fmla="val 6452"/>
            </a:avLst>
          </a:prstGeom>
          <a:solidFill>
            <a:srgbClr val="EE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4846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7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incremental revenue ≈ $230M+ / year</a:t>
            </a:r>
            <a:endParaRPr lang="en-US" sz="1500" dirty="0"/>
          </a:p>
          <a:p>
            <a:pPr marL="0" indent="0">
              <a:buNone/>
            </a:pPr>
            <a:r>
              <a:rPr lang="en-US" sz="1100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6.5M upsell subscribers × $35.88 ≈ $233M in subscription revenue — before counting the larger prize: ad impressions from 13M added viewers and more hours per viewer.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9951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7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THAT MOVE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995160" y="2103120"/>
            <a:ext cx="457200" cy="457200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2212848"/>
            <a:ext cx="237744" cy="237744"/>
          </a:xfrm>
          <a:prstGeom prst="rect">
            <a:avLst/>
          </a:prstGeom>
        </p:spPr>
      </p:pic>
      <p:sp>
        <p:nvSpPr>
          <p:cNvPr id="4" name="Text 6"/>
          <p:cNvSpPr/>
          <p:nvPr/>
        </p:nvSpPr>
        <p:spPr>
          <a:xfrm>
            <a:off x="7680960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680960" y="2386584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spikes become weekly habits, hours per viewer rise across the season.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995160" y="3474720"/>
            <a:ext cx="457200" cy="457200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358444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revenue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680960" y="3758184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viewers × more hours × premium sports CPMs, the path toward the $7–10B/yr analysts project for Prime Video ads.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995160" y="4846320"/>
            <a:ext cx="457200" cy="457200"/>
          </a:xfrm>
          <a:prstGeom prst="ellipse">
            <a:avLst/>
          </a:prstGeom>
          <a:solidFill>
            <a:srgbClr val="00A8E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495604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80960" y="4800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4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680960" y="5129784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sports habit gives one more reason to keep the Prime membership, protecting the whole ecosystem.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94360" y="64556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estimate. Baselines from Amazon disclosures; lift and conversion rates are assumptions benchmarked to Dec 2025 sports-driven growth. Ad-revenue projection: industry analysts.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64592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Video already owns the audience and the rights.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 turning events into habits.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37947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A24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39502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44988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TV is streaming, record high (Nielsen, Dec 2025)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75304" y="37947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A24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58184" y="39502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758184" y="44988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ad-supported viewers, largest premium ad audience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73368" y="37947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A24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56248" y="39502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56248" y="44988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U.S. viewing share, driven by live sports + originals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71432" y="379476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A24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54312" y="39502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$230M+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354312" y="449884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upside from a weekly </a:t>
            </a:r>
            <a:r>
              <a:rPr lang="en-US" sz="105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habit, </a:t>
            </a:r>
            <a:r>
              <a:rPr lang="en-US" sz="10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ad revenue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5806440"/>
            <a:ext cx="420624" cy="420624"/>
          </a:xfrm>
          <a:prstGeom prst="ellipse">
            <a:avLst/>
          </a:prstGeom>
          <a:solidFill>
            <a:srgbClr val="1A24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5907390"/>
            <a:ext cx="218724" cy="21872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71600" y="57881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analysis, notebooks, cleaned data &amp; README:  github.com/&lt;username&gt;/streaming-bi-svod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2001</Words>
  <Application>Microsoft Macintosh PowerPoint</Application>
  <PresentationFormat>Widescreen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Nguyen, Minh</cp:lastModifiedBy>
  <cp:revision>2</cp:revision>
  <dcterms:created xsi:type="dcterms:W3CDTF">2026-07-27T14:41:18Z</dcterms:created>
  <dcterms:modified xsi:type="dcterms:W3CDTF">2026-07-27T15:14:59Z</dcterms:modified>
</cp:coreProperties>
</file>